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2" r:id="rId3"/>
    <p:sldId id="260" r:id="rId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6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C3615-0E5A-4755-A8F1-01E5401FC26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349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6AC76-1F8E-4B7C-BD36-18BC2B26DE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7990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36D7E-6017-4269-905A-0A29B7C77A8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077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BD5DDB-B785-4739-ACB9-17C6F23D984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3680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B9229-6A2D-4D4F-83F7-03D779B18FD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768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94470-76E1-4646-8561-7B2DAFA2DB3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6412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8"/>
          <p:cNvSpPr>
            <a:spLocks noGrp="1"/>
          </p:cNvSpPr>
          <p:nvPr>
            <p:ph sz="quarter" idx="13"/>
          </p:nvPr>
        </p:nvSpPr>
        <p:spPr>
          <a:xfrm>
            <a:off x="7937500" y="6248400"/>
            <a:ext cx="914400" cy="914400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BFB99-1EAE-4C40-B3B9-92DDA8E6F51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4294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5F9153-CC07-4A4F-A2DA-ECD04E79770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384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198C1-EFA2-4041-93A6-FB7C61DA59E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2005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9FBF8-264F-41AB-8649-BBF270C0E87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8432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7B30E-3212-44D8-9206-F4ABCBB13C4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6628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45394-295A-4A17-A113-5A2C419B6A6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019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0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2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3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4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0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auto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2400" smtClean="0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auto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ja-JP" altLang="en-US" sz="1800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0" y="0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auto">
              <a:xfrm flipH="1">
                <a:off x="0" y="122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800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auto">
              <a:xfrm>
                <a:off x="240" y="4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800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auto">
              <a:xfrm flipH="1">
                <a:off x="122" y="0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w 43195"/>
                  <a:gd name="T7" fmla="*/ 0 h 43200"/>
                  <a:gd name="T8" fmla="*/ 0 w 43195"/>
                  <a:gd name="T9" fmla="*/ 0 h 43200"/>
                  <a:gd name="T10" fmla="*/ 0 w 43195"/>
                  <a:gd name="T11" fmla="*/ 0 h 43200"/>
                  <a:gd name="T12" fmla="*/ 0 w 43195"/>
                  <a:gd name="T13" fmla="*/ 0 h 43200"/>
                  <a:gd name="T14" fmla="*/ 0 w 43195"/>
                  <a:gd name="T15" fmla="*/ 0 h 43200"/>
                  <a:gd name="T16" fmla="*/ 0 w 43195"/>
                  <a:gd name="T17" fmla="*/ 0 h 43200"/>
                  <a:gd name="T18" fmla="*/ 0 w 43195"/>
                  <a:gd name="T19" fmla="*/ 0 h 43200"/>
                  <a:gd name="T20" fmla="*/ 0 w 43195"/>
                  <a:gd name="T21" fmla="*/ 0 h 432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3195"/>
                  <a:gd name="T34" fmla="*/ 0 h 43200"/>
                  <a:gd name="T35" fmla="*/ 43195 w 43195"/>
                  <a:gd name="T36" fmla="*/ 43200 h 432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mpd="sng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800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 smtClean="0"/>
              <a:t>マスタ タイトルの書式設定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 smtClean="0"/>
              <a:t>マスタ テキストの書式設定</a:t>
            </a:r>
          </a:p>
          <a:p>
            <a:pPr lvl="1"/>
            <a:r>
              <a:rPr lang="ja-JP" altLang="ja-JP" smtClean="0"/>
              <a:t>第 2 レベル</a:t>
            </a:r>
          </a:p>
          <a:p>
            <a:pPr lvl="2"/>
            <a:r>
              <a:rPr lang="ja-JP" altLang="ja-JP" smtClean="0"/>
              <a:t>第 3 レベル</a:t>
            </a:r>
          </a:p>
          <a:p>
            <a:pPr lvl="3"/>
            <a:r>
              <a:rPr lang="ja-JP" altLang="ja-JP" smtClean="0"/>
              <a:t>第 4 レベル</a:t>
            </a:r>
          </a:p>
          <a:p>
            <a:pPr lvl="4"/>
            <a:r>
              <a:rPr lang="ja-JP" altLang="ja-JP" smtClean="0"/>
              <a:t>第 5 レベル</a:t>
            </a:r>
          </a:p>
        </p:txBody>
      </p:sp>
      <p:sp>
        <p:nvSpPr>
          <p:cNvPr id="1089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1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C5C5A50-8D9E-427E-AE8A-0CAB1C0A294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1163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5pPr>
      <a:lvl6pPr marL="457189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6pPr>
      <a:lvl7pPr marL="914377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7pPr>
      <a:lvl8pPr marL="1371566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8pPr>
      <a:lvl9pPr marL="1828754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Assignment (Matsumoto)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905000"/>
            <a:ext cx="7772400" cy="4343400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ja-JP" dirty="0" smtClean="0"/>
              <a:t>Using </a:t>
            </a:r>
            <a:r>
              <a:rPr kumimoji="1" lang="en-US" altLang="ja-JP" dirty="0" smtClean="0"/>
              <a:t>the input sentence and </a:t>
            </a:r>
            <a:r>
              <a:rPr kumimoji="1" lang="en-US" altLang="ja-JP" dirty="0" smtClean="0"/>
              <a:t>the grammar rules shown in the following page, do the followings:</a:t>
            </a:r>
          </a:p>
          <a:p>
            <a:pPr marL="971538" lvl="1" indent="-514350">
              <a:buFont typeface="+mj-lt"/>
              <a:buAutoNum type="arabicPeriod"/>
            </a:pPr>
            <a:r>
              <a:rPr kumimoji="1" lang="en-US" altLang="ja-JP" dirty="0" smtClean="0"/>
              <a:t>Show the steps of Shift-Reduce parsing for phrase structure grammar, as shown in p.65 in the lecture slide</a:t>
            </a:r>
          </a:p>
          <a:p>
            <a:pPr marL="971538" lvl="1" indent="-514350">
              <a:buFont typeface="+mj-lt"/>
              <a:buAutoNum type="arabicPeriod"/>
            </a:pPr>
            <a:r>
              <a:rPr kumimoji="1" lang="en-US" altLang="ja-JP" dirty="0" smtClean="0"/>
              <a:t>Complete the CKY table, as shown on p.3 of this slide</a:t>
            </a:r>
          </a:p>
          <a:p>
            <a:r>
              <a:rPr kumimoji="1" lang="en-US" altLang="ja-JP" dirty="0" smtClean="0"/>
              <a:t>Submission</a:t>
            </a:r>
          </a:p>
          <a:p>
            <a:pPr lvl="1"/>
            <a:r>
              <a:rPr kumimoji="1" lang="en-US" altLang="ja-JP" dirty="0" smtClean="0"/>
              <a:t>Deadline: November 17</a:t>
            </a:r>
            <a:r>
              <a:rPr kumimoji="1" lang="en-US" altLang="ja-JP" baseline="30000" dirty="0" smtClean="0"/>
              <a:t>th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/>
              <a:t>mailto: matsu@is.naist.jp</a:t>
            </a:r>
          </a:p>
          <a:p>
            <a:pPr marL="57147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6AC76-1F8E-4B7C-BD36-18BC2B26DE70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766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9"/>
            <a:ext cx="8229600" cy="1143000"/>
          </a:xfrm>
        </p:spPr>
        <p:txBody>
          <a:bodyPr anchor="ctr"/>
          <a:lstStyle/>
          <a:p>
            <a:pPr eaLnBrk="1" hangingPunct="1"/>
            <a:endParaRPr lang="en-US" altLang="ja-JP" sz="2400" dirty="0"/>
          </a:p>
        </p:txBody>
      </p:sp>
      <p:sp>
        <p:nvSpPr>
          <p:cNvPr id="70659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698502" y="1417642"/>
            <a:ext cx="7727951" cy="5260975"/>
          </a:xfrm>
          <a:noFill/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400" dirty="0" smtClean="0"/>
              <a:t>input </a:t>
            </a:r>
            <a:r>
              <a:rPr lang="en-US" altLang="ja-JP" sz="2400" dirty="0"/>
              <a:t>sentence:  The boy hits the dog with a rod.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400" dirty="0"/>
              <a:t>Grammar  rules: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000" dirty="0"/>
              <a:t>	</a:t>
            </a:r>
            <a:r>
              <a:rPr lang="en-US" altLang="ja-JP" sz="2200" dirty="0"/>
              <a:t>sentence </a:t>
            </a:r>
            <a:r>
              <a:rPr lang="en-US" altLang="ja-JP" sz="2200" dirty="0">
                <a:sym typeface="Wingdings" panose="05000000000000000000" pitchFamily="2" charset="2"/>
              </a:rPr>
              <a:t> np, </a:t>
            </a:r>
            <a:r>
              <a:rPr lang="en-US" altLang="ja-JP" sz="2200" dirty="0" err="1">
                <a:sym typeface="Wingdings" panose="05000000000000000000" pitchFamily="2" charset="2"/>
              </a:rPr>
              <a:t>vp</a:t>
            </a:r>
            <a:endParaRPr lang="en-US" altLang="ja-JP" sz="2200" dirty="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/>
              <a:t> 	np </a:t>
            </a:r>
            <a:r>
              <a:rPr lang="en-US" altLang="ja-JP" sz="2200" dirty="0">
                <a:sym typeface="Wingdings" panose="05000000000000000000" pitchFamily="2" charset="2"/>
              </a:rPr>
              <a:t> </a:t>
            </a:r>
            <a:r>
              <a:rPr lang="en-US" altLang="ja-JP" sz="2200" dirty="0" err="1">
                <a:sym typeface="Wingdings" panose="05000000000000000000" pitchFamily="2" charset="2"/>
              </a:rPr>
              <a:t>det</a:t>
            </a:r>
            <a:r>
              <a:rPr lang="en-US" altLang="ja-JP" sz="2200" dirty="0">
                <a:sym typeface="Wingdings" panose="05000000000000000000" pitchFamily="2" charset="2"/>
              </a:rPr>
              <a:t>, </a:t>
            </a:r>
            <a:r>
              <a:rPr lang="en-US" altLang="ja-JP" sz="2200" dirty="0" smtClean="0">
                <a:sym typeface="Wingdings" panose="05000000000000000000" pitchFamily="2" charset="2"/>
              </a:rPr>
              <a:t>n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	</a:t>
            </a:r>
            <a:r>
              <a:rPr lang="en-US" altLang="ja-JP" sz="2200" dirty="0" smtClean="0">
                <a:sym typeface="Wingdings" panose="05000000000000000000" pitchFamily="2" charset="2"/>
              </a:rPr>
              <a:t>np </a:t>
            </a:r>
            <a:r>
              <a:rPr lang="en-US" altLang="ja-JP" sz="2200" dirty="0" smtClean="0">
                <a:solidFill>
                  <a:srgbClr val="40458C"/>
                </a:solidFill>
                <a:sym typeface="Wingdings" panose="05000000000000000000" pitchFamily="2" charset="2"/>
              </a:rPr>
              <a:t></a:t>
            </a:r>
            <a:r>
              <a:rPr lang="ja-JP" altLang="en-US" sz="2200" dirty="0">
                <a:solidFill>
                  <a:srgbClr val="40458C"/>
                </a:solidFill>
                <a:sym typeface="Wingdings" panose="05000000000000000000" pitchFamily="2" charset="2"/>
              </a:rPr>
              <a:t> </a:t>
            </a:r>
            <a:r>
              <a:rPr lang="en-US" altLang="ja-JP" sz="2200" dirty="0" smtClean="0">
                <a:solidFill>
                  <a:srgbClr val="40458C"/>
                </a:solidFill>
                <a:sym typeface="Wingdings" panose="05000000000000000000" pitchFamily="2" charset="2"/>
              </a:rPr>
              <a:t>np, pp</a:t>
            </a:r>
            <a:endParaRPr lang="en-US" altLang="ja-JP" sz="2200" dirty="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</a:t>
            </a:r>
            <a:r>
              <a:rPr lang="en-US" altLang="ja-JP" sz="2200" dirty="0" err="1">
                <a:sym typeface="Wingdings" panose="05000000000000000000" pitchFamily="2" charset="2"/>
              </a:rPr>
              <a:t>vp</a:t>
            </a:r>
            <a:r>
              <a:rPr lang="en-US" altLang="ja-JP" sz="2200" dirty="0">
                <a:sym typeface="Wingdings" panose="05000000000000000000" pitchFamily="2" charset="2"/>
              </a:rPr>
              <a:t>  verb, np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</a:t>
            </a:r>
            <a:r>
              <a:rPr lang="en-US" altLang="ja-JP" sz="2200" dirty="0" err="1">
                <a:sym typeface="Wingdings" panose="05000000000000000000" pitchFamily="2" charset="2"/>
              </a:rPr>
              <a:t>vp</a:t>
            </a:r>
            <a:r>
              <a:rPr lang="en-US" altLang="ja-JP" sz="2200" dirty="0">
                <a:sym typeface="Wingdings" panose="05000000000000000000" pitchFamily="2" charset="2"/>
              </a:rPr>
              <a:t>  </a:t>
            </a:r>
            <a:r>
              <a:rPr lang="en-US" altLang="ja-JP" sz="2200" dirty="0" err="1">
                <a:sym typeface="Wingdings" panose="05000000000000000000" pitchFamily="2" charset="2"/>
              </a:rPr>
              <a:t>vp</a:t>
            </a:r>
            <a:r>
              <a:rPr lang="en-US" altLang="ja-JP" sz="2200" dirty="0">
                <a:sym typeface="Wingdings" panose="05000000000000000000" pitchFamily="2" charset="2"/>
              </a:rPr>
              <a:t>, pp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pp  prep, np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</a:t>
            </a:r>
            <a:r>
              <a:rPr lang="en-US" altLang="ja-JP" sz="2200" dirty="0" err="1">
                <a:sym typeface="Wingdings" panose="05000000000000000000" pitchFamily="2" charset="2"/>
              </a:rPr>
              <a:t>det</a:t>
            </a:r>
            <a:r>
              <a:rPr lang="en-US" altLang="ja-JP" sz="2200" dirty="0">
                <a:sym typeface="Wingdings" panose="05000000000000000000" pitchFamily="2" charset="2"/>
              </a:rPr>
              <a:t>  [the] | [a]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</a:t>
            </a:r>
            <a:r>
              <a:rPr lang="en-US" altLang="ja-JP" sz="2200" dirty="0" smtClean="0">
                <a:sym typeface="Wingdings" panose="05000000000000000000" pitchFamily="2" charset="2"/>
              </a:rPr>
              <a:t>n </a:t>
            </a:r>
            <a:r>
              <a:rPr lang="en-US" altLang="ja-JP" sz="2200" dirty="0">
                <a:sym typeface="Wingdings" panose="05000000000000000000" pitchFamily="2" charset="2"/>
              </a:rPr>
              <a:t> [boy] | [dog] | | [rod]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verb  [hits]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/>
              <a:t> 	prep </a:t>
            </a:r>
            <a:r>
              <a:rPr lang="en-US" altLang="ja-JP" sz="2200" dirty="0">
                <a:sym typeface="Wingdings" panose="05000000000000000000" pitchFamily="2" charset="2"/>
              </a:rPr>
              <a:t> [with]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2200" dirty="0">
              <a:sym typeface="Wingdings" panose="05000000000000000000" pitchFamily="2" charset="2"/>
            </a:endParaRPr>
          </a:p>
        </p:txBody>
      </p:sp>
      <p:sp>
        <p:nvSpPr>
          <p:cNvPr id="70661" name="スライド番号プレースホルダー 1"/>
          <p:cNvSpPr>
            <a:spLocks noGrp="1"/>
          </p:cNvSpPr>
          <p:nvPr>
            <p:ph type="sldNum" sz="quarter" idx="16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32" indent="-285744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160" indent="-228594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8AA44C06-C737-4551-A1D1-60EA5B6C906E}" type="slidenum">
              <a:rPr kumimoji="0" lang="en-US" altLang="ja-JP" sz="1400">
                <a:solidFill>
                  <a:srgbClr val="40458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</a:t>
            </a:fld>
            <a:endParaRPr kumimoji="0" lang="en-US" altLang="ja-JP" sz="1400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55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スライド番号プレースホルダ 5"/>
          <p:cNvSpPr txBox="1">
            <a:spLocks noGrp="1"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48E2BFCB-0819-4022-A41D-C9F68A1B4192}" type="slidenum">
              <a:rPr kumimoji="0" lang="en-US" altLang="ja-JP" sz="1400">
                <a:solidFill>
                  <a:srgbClr val="40458C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3</a:t>
            </a:fld>
            <a:endParaRPr kumimoji="0" lang="en-US" altLang="ja-JP" sz="1400">
              <a:solidFill>
                <a:srgbClr val="40458C"/>
              </a:solidFill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9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ja-JP" sz="3600" dirty="0" smtClean="0"/>
              <a:t>CKY </a:t>
            </a:r>
            <a:r>
              <a:rPr lang="en-US" altLang="ja-JP" sz="3600" dirty="0"/>
              <a:t>Parsing for</a:t>
            </a:r>
            <a:br>
              <a:rPr lang="en-US" altLang="ja-JP" sz="3600" dirty="0"/>
            </a:br>
            <a:r>
              <a:rPr lang="en-US" altLang="ja-JP" sz="2800" dirty="0">
                <a:latin typeface="Times New Roman" panose="02020603050405020304" pitchFamily="18" charset="0"/>
              </a:rPr>
              <a:t>“</a:t>
            </a:r>
            <a:r>
              <a:rPr lang="en-US" altLang="ja-JP" sz="2800" dirty="0"/>
              <a:t>the boy hits the dog with a rod</a:t>
            </a:r>
            <a:r>
              <a:rPr lang="en-US" altLang="ja-JP" sz="2800" dirty="0">
                <a:latin typeface="Times New Roman" panose="02020603050405020304" pitchFamily="18" charset="0"/>
              </a:rPr>
              <a:t>” </a:t>
            </a:r>
            <a:r>
              <a:rPr lang="en-US" altLang="ja-JP" sz="2800" dirty="0"/>
              <a:t>(Initial state)</a:t>
            </a:r>
          </a:p>
        </p:txBody>
      </p:sp>
      <p:graphicFrame>
        <p:nvGraphicFramePr>
          <p:cNvPr id="171012" name="Group 4"/>
          <p:cNvGraphicFramePr>
            <a:graphicFrameLocks noGrp="1"/>
          </p:cNvGraphicFramePr>
          <p:nvPr/>
        </p:nvGraphicFramePr>
        <p:xfrm>
          <a:off x="1425577" y="2216154"/>
          <a:ext cx="7097713" cy="519113"/>
        </p:xfrm>
        <a:graphic>
          <a:graphicData uri="http://schemas.openxmlformats.org/drawingml/2006/table">
            <a:tbl>
              <a:tblPr/>
              <a:tblGrid>
                <a:gridCol w="101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30" name="Group 22"/>
          <p:cNvGraphicFramePr>
            <a:graphicFrameLocks noGrp="1"/>
          </p:cNvGraphicFramePr>
          <p:nvPr/>
        </p:nvGraphicFramePr>
        <p:xfrm>
          <a:off x="2439988" y="2735263"/>
          <a:ext cx="6083300" cy="519112"/>
        </p:xfrm>
        <a:graphic>
          <a:graphicData uri="http://schemas.openxmlformats.org/drawingml/2006/table">
            <a:tbl>
              <a:tblPr/>
              <a:tblGrid>
                <a:gridCol w="101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verb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46" name="Group 38"/>
          <p:cNvGraphicFramePr>
            <a:graphicFrameLocks noGrp="1"/>
          </p:cNvGraphicFramePr>
          <p:nvPr/>
        </p:nvGraphicFramePr>
        <p:xfrm>
          <a:off x="3454401" y="3252791"/>
          <a:ext cx="5068888" cy="504825"/>
        </p:xfrm>
        <a:graphic>
          <a:graphicData uri="http://schemas.openxmlformats.org/drawingml/2006/table">
            <a:tbl>
              <a:tblPr/>
              <a:tblGrid>
                <a:gridCol w="101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det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60" name="Group 52"/>
          <p:cNvGraphicFramePr>
            <a:graphicFrameLocks noGrp="1"/>
          </p:cNvGraphicFramePr>
          <p:nvPr/>
        </p:nvGraphicFramePr>
        <p:xfrm>
          <a:off x="4468816" y="3757613"/>
          <a:ext cx="4054475" cy="533400"/>
        </p:xfrm>
        <a:graphic>
          <a:graphicData uri="http://schemas.openxmlformats.org/drawingml/2006/table">
            <a:tbl>
              <a:tblPr/>
              <a:tblGrid>
                <a:gridCol w="1011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72" name="Group 64"/>
          <p:cNvGraphicFramePr>
            <a:graphicFrameLocks noGrp="1"/>
          </p:cNvGraphicFramePr>
          <p:nvPr/>
        </p:nvGraphicFramePr>
        <p:xfrm>
          <a:off x="5480050" y="4291017"/>
          <a:ext cx="3043238" cy="530225"/>
        </p:xfrm>
        <a:graphic>
          <a:graphicData uri="http://schemas.openxmlformats.org/drawingml/2006/table">
            <a:tbl>
              <a:tblPr/>
              <a:tblGrid>
                <a:gridCol w="101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prep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82" name="Group 74"/>
          <p:cNvGraphicFramePr>
            <a:graphicFrameLocks noGrp="1"/>
          </p:cNvGraphicFramePr>
          <p:nvPr/>
        </p:nvGraphicFramePr>
        <p:xfrm>
          <a:off x="7510466" y="5335588"/>
          <a:ext cx="1012825" cy="519112"/>
        </p:xfrm>
        <a:graphic>
          <a:graphicData uri="http://schemas.openxmlformats.org/drawingml/2006/table">
            <a:tbl>
              <a:tblPr/>
              <a:tblGrid>
                <a:gridCol w="101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9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88" name="Group 80"/>
          <p:cNvGraphicFramePr>
            <a:graphicFrameLocks noGrp="1"/>
          </p:cNvGraphicFramePr>
          <p:nvPr/>
        </p:nvGraphicFramePr>
        <p:xfrm>
          <a:off x="6496050" y="4821239"/>
          <a:ext cx="2027238" cy="514351"/>
        </p:xfrm>
        <a:graphic>
          <a:graphicData uri="http://schemas.openxmlformats.org/drawingml/2006/table">
            <a:tbl>
              <a:tblPr/>
              <a:tblGrid>
                <a:gridCol w="101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det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96" name="Group 88"/>
          <p:cNvGraphicFramePr>
            <a:graphicFrameLocks noGrp="1"/>
          </p:cNvGraphicFramePr>
          <p:nvPr/>
        </p:nvGraphicFramePr>
        <p:xfrm>
          <a:off x="411166" y="1700213"/>
          <a:ext cx="8112125" cy="519112"/>
        </p:xfrm>
        <a:graphic>
          <a:graphicData uri="http://schemas.openxmlformats.org/drawingml/2006/table">
            <a:tbl>
              <a:tblPr/>
              <a:tblGrid>
                <a:gridCol w="1014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9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det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36" name="Text Box 108"/>
          <p:cNvSpPr txBox="1">
            <a:spLocks noChangeArrowheads="1"/>
          </p:cNvSpPr>
          <p:nvPr/>
        </p:nvSpPr>
        <p:spPr bwMode="auto">
          <a:xfrm>
            <a:off x="554042" y="2222503"/>
            <a:ext cx="6206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the</a:t>
            </a:r>
          </a:p>
        </p:txBody>
      </p:sp>
      <p:sp>
        <p:nvSpPr>
          <p:cNvPr id="73837" name="Text Box 109"/>
          <p:cNvSpPr txBox="1">
            <a:spLocks noChangeArrowheads="1"/>
          </p:cNvSpPr>
          <p:nvPr/>
        </p:nvSpPr>
        <p:spPr bwMode="auto">
          <a:xfrm>
            <a:off x="1593854" y="2795590"/>
            <a:ext cx="6733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boy</a:t>
            </a:r>
          </a:p>
        </p:txBody>
      </p:sp>
      <p:sp>
        <p:nvSpPr>
          <p:cNvPr id="73838" name="Text Box 110"/>
          <p:cNvSpPr txBox="1">
            <a:spLocks noChangeArrowheads="1"/>
          </p:cNvSpPr>
          <p:nvPr/>
        </p:nvSpPr>
        <p:spPr bwMode="auto">
          <a:xfrm>
            <a:off x="2616203" y="3300417"/>
            <a:ext cx="6677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hits</a:t>
            </a:r>
          </a:p>
        </p:txBody>
      </p:sp>
      <p:sp>
        <p:nvSpPr>
          <p:cNvPr id="73839" name="Text Box 111"/>
          <p:cNvSpPr txBox="1">
            <a:spLocks noChangeArrowheads="1"/>
          </p:cNvSpPr>
          <p:nvPr/>
        </p:nvSpPr>
        <p:spPr bwMode="auto">
          <a:xfrm>
            <a:off x="3636967" y="3805241"/>
            <a:ext cx="6206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the</a:t>
            </a:r>
          </a:p>
        </p:txBody>
      </p:sp>
      <p:sp>
        <p:nvSpPr>
          <p:cNvPr id="73840" name="Text Box 112"/>
          <p:cNvSpPr txBox="1">
            <a:spLocks noChangeArrowheads="1"/>
          </p:cNvSpPr>
          <p:nvPr/>
        </p:nvSpPr>
        <p:spPr bwMode="auto">
          <a:xfrm>
            <a:off x="4619627" y="4335465"/>
            <a:ext cx="6912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dog</a:t>
            </a:r>
          </a:p>
        </p:txBody>
      </p:sp>
      <p:sp>
        <p:nvSpPr>
          <p:cNvPr id="73841" name="Text Box 113"/>
          <p:cNvSpPr txBox="1">
            <a:spLocks noChangeArrowheads="1"/>
          </p:cNvSpPr>
          <p:nvPr/>
        </p:nvSpPr>
        <p:spPr bwMode="auto">
          <a:xfrm>
            <a:off x="5651503" y="4878391"/>
            <a:ext cx="759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with</a:t>
            </a:r>
          </a:p>
        </p:txBody>
      </p:sp>
      <p:sp>
        <p:nvSpPr>
          <p:cNvPr id="73842" name="Text Box 114"/>
          <p:cNvSpPr txBox="1">
            <a:spLocks noChangeArrowheads="1"/>
          </p:cNvSpPr>
          <p:nvPr/>
        </p:nvSpPr>
        <p:spPr bwMode="auto">
          <a:xfrm>
            <a:off x="6800851" y="5397502"/>
            <a:ext cx="3465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a</a:t>
            </a:r>
          </a:p>
        </p:txBody>
      </p:sp>
      <p:sp>
        <p:nvSpPr>
          <p:cNvPr id="73843" name="Text Box 115"/>
          <p:cNvSpPr txBox="1">
            <a:spLocks noChangeArrowheads="1"/>
          </p:cNvSpPr>
          <p:nvPr/>
        </p:nvSpPr>
        <p:spPr bwMode="auto">
          <a:xfrm>
            <a:off x="7654927" y="5854702"/>
            <a:ext cx="6304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rod</a:t>
            </a:r>
          </a:p>
        </p:txBody>
      </p:sp>
      <p:sp>
        <p:nvSpPr>
          <p:cNvPr id="73845" name="スライド番号プレースホルダー 1"/>
          <p:cNvSpPr>
            <a:spLocks noGrp="1"/>
          </p:cNvSpPr>
          <p:nvPr>
            <p:ph type="sldNum" sz="quarter" idx="16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32" indent="-285744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160" indent="-228594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69DF1CB1-E4DE-4811-8311-817942D159AA}" type="slidenum">
              <a:rPr kumimoji="0" lang="en-US" altLang="ja-JP" sz="1400">
                <a:solidFill>
                  <a:srgbClr val="40458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3</a:t>
            </a:fld>
            <a:endParaRPr kumimoji="0" lang="en-US" altLang="ja-JP" sz="1400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ＭＳ Ｐゴシック" pitchFamily="50" charset="-128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99</Words>
  <Application>Microsoft Office PowerPoint</Application>
  <PresentationFormat>画面に合わせる (4:3)</PresentationFormat>
  <Paragraphs>42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ＭＳ Ｐゴシック</vt:lpstr>
      <vt:lpstr>ＭＳ Ｐ明朝</vt:lpstr>
      <vt:lpstr>Arial</vt:lpstr>
      <vt:lpstr>Tahoma</vt:lpstr>
      <vt:lpstr>Times New Roman</vt:lpstr>
      <vt:lpstr>Wingdings</vt:lpstr>
      <vt:lpstr>Blueprint</vt:lpstr>
      <vt:lpstr>Assignment (Matsumoto)</vt:lpstr>
      <vt:lpstr>PowerPoint プレゼンテーション</vt:lpstr>
      <vt:lpstr>CKY Parsing for “the boy hits the dog with a rod” (Initial state)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(Matsumoto)</dc:title>
  <dc:creator>Owner</dc:creator>
  <cp:lastModifiedBy>Owner</cp:lastModifiedBy>
  <cp:revision>3</cp:revision>
  <dcterms:created xsi:type="dcterms:W3CDTF">2017-10-18T14:21:52Z</dcterms:created>
  <dcterms:modified xsi:type="dcterms:W3CDTF">2017-10-18T14:37:52Z</dcterms:modified>
</cp:coreProperties>
</file>